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91F97"/>
                </a:solidFill>
              </a:defRPr>
            </a:pPr>
            <a:r>
              <a:t>WebLeaper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03A52"/>
                </a:solidFill>
              </a:defRPr>
            </a:pPr>
            <a:r>
              <a:t>Empowering Efficiency and Efficacy in WebAgent</a:t>
            </a:r>
          </a:p>
          <a:p>
            <a:pPr algn="ctr">
              <a:defRPr sz="2400">
                <a:solidFill>
                  <a:srgbClr val="303A52"/>
                </a:solidFill>
              </a:defRPr>
            </a:pPr>
            <a:r>
              <a:t>via Enabling Info-Rich Seeking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Tongyi Lab, Alibaba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研究背景与动机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LLM-based agents正在变革开放式问题解决方法</a:t>
            </a:r>
          </a:p>
          <a:p>
            <a:pPr>
              <a:spcBef>
                <a:spcPts val="1200"/>
              </a:spcBef>
              <a:defRPr sz="2000"/>
            </a:pPr>
            <a:r>
              <a:t>• 信息搜索(Information Seeking)是自主推理和决策的核心能力</a:t>
            </a:r>
          </a:p>
          <a:p>
            <a:pPr>
              <a:spcBef>
                <a:spcPts val="1200"/>
              </a:spcBef>
              <a:defRPr sz="2000"/>
            </a:pPr>
            <a:r>
              <a:t>• 现有问题：当前IS agents存在搜索效率低的问题</a:t>
            </a:r>
          </a:p>
          <a:p>
            <a:pPr>
              <a:spcBef>
                <a:spcPts val="1200"/>
              </a:spcBef>
              <a:defRPr sz="2000"/>
            </a:pPr>
            <a:r>
              <a:t>• 根本原因：训练任务中目标实体稀疏，限制了代理学习高效搜索行为的机会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问题1：如何提高信息搜索代理的搜索效率？</a:t>
            </a:r>
          </a:p>
          <a:p>
            <a:pPr>
              <a:spcBef>
                <a:spcPts val="1200"/>
              </a:spcBef>
              <a:defRPr sz="2000"/>
            </a:pPr>
            <a:r>
              <a:t>• 问题2：如何在有限的上下文中嵌入更多的目标实体？</a:t>
            </a:r>
          </a:p>
          <a:p>
            <a:pPr>
              <a:spcBef>
                <a:spcPts val="1200"/>
              </a:spcBef>
              <a:defRPr sz="2000"/>
            </a:pPr>
            <a:r>
              <a:t>• 问题3：如何生成既准确又高效的解决方案轨迹？</a:t>
            </a:r>
          </a:p>
          <a:p>
            <a:pPr>
              <a:spcBef>
                <a:spcPts val="1200"/>
              </a:spcBef>
              <a:defRPr sz="2000"/>
            </a:pPr>
            <a:r>
              <a:t>• 挑战：需要同时优化正确性和搜索性能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解决方案：WebLeaper框架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将信息搜索形式化为树状推理问题</a:t>
            </a:r>
          </a:p>
          <a:p>
            <a:pPr>
              <a:spcBef>
                <a:spcPts val="1200"/>
              </a:spcBef>
              <a:defRPr sz="2000"/>
            </a:pPr>
            <a:r>
              <a:t>• 使用Wikipedia表格构建高覆盖率的IS任务</a:t>
            </a:r>
          </a:p>
          <a:p>
            <a:pPr>
              <a:spcBef>
                <a:spcPts val="1200"/>
              </a:spcBef>
              <a:defRPr sz="2000"/>
            </a:pPr>
            <a:r>
              <a:t>• 提出三种任务合成变体：Basic、Union、Reverse-Union</a:t>
            </a:r>
          </a:p>
          <a:p>
            <a:pPr>
              <a:spcBef>
                <a:spcPts val="1200"/>
              </a:spcBef>
              <a:defRPr sz="2000"/>
            </a:pPr>
            <a:r>
              <a:t>• 仅保留准确且高效的训练轨迹</a:t>
            </a:r>
          </a:p>
          <a:p>
            <a:pPr>
              <a:spcBef>
                <a:spcPts val="1200"/>
              </a:spcBef>
              <a:defRPr sz="2000"/>
            </a:pPr>
            <a:r>
              <a:t>• 系统性地提高IS效率和效果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91F97"/>
                </a:solidFill>
              </a:defRPr>
            </a:pPr>
            <a:r>
              <a:t>方法详解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66CC"/>
                </a:solidFill>
              </a:defRPr>
            </a:pPr>
            <a:r>
              <a:t>任务构建</a:t>
            </a:r>
          </a:p>
          <a:p>
            <a:pPr>
              <a:spcBef>
                <a:spcPts val="800"/>
              </a:spcBef>
              <a:defRPr sz="1800"/>
            </a:pPr>
            <a:r>
              <a:t>• Basic：基础实体搜索任务</a:t>
            </a:r>
          </a:p>
          <a:p>
            <a:pPr>
              <a:spcBef>
                <a:spcPts val="800"/>
              </a:spcBef>
              <a:defRPr sz="1800"/>
            </a:pPr>
            <a:r>
              <a:t>• Union：联合多实体搜索</a:t>
            </a:r>
          </a:p>
          <a:p>
            <a:pPr>
              <a:spcBef>
                <a:spcPts val="800"/>
              </a:spcBef>
              <a:defRPr sz="1800"/>
            </a:pPr>
            <a:r>
              <a:t>• Reverse-Union：逆向联合搜索</a:t>
            </a:r>
          </a:p>
          <a:p>
            <a:pPr>
              <a:spcBef>
                <a:spcPts val="800"/>
              </a:spcBef>
              <a:defRPr sz="1800"/>
            </a:pPr>
            <a:r>
              <a:t>• 利用Wikipedia结构化数据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994C"/>
                </a:solidFill>
              </a:defRPr>
            </a:pPr>
            <a:r>
              <a:t>轨迹优化</a:t>
            </a:r>
          </a:p>
          <a:p>
            <a:pPr>
              <a:spcBef>
                <a:spcPts val="800"/>
              </a:spcBef>
              <a:defRPr sz="1800"/>
            </a:pPr>
            <a:r>
              <a:t>• 过滤低效搜索路径</a:t>
            </a:r>
          </a:p>
          <a:p>
            <a:pPr>
              <a:spcBef>
                <a:spcPts val="800"/>
              </a:spcBef>
              <a:defRPr sz="1800"/>
            </a:pPr>
            <a:r>
              <a:t>• 保留准确答案</a:t>
            </a:r>
          </a:p>
          <a:p>
            <a:pPr>
              <a:spcBef>
                <a:spcPts val="800"/>
              </a:spcBef>
              <a:defRPr sz="1800"/>
            </a:pPr>
            <a:r>
              <a:t>• 优化搜索步骤数</a:t>
            </a:r>
          </a:p>
          <a:p>
            <a:pPr>
              <a:spcBef>
                <a:spcPts val="800"/>
              </a:spcBef>
              <a:defRPr sz="1800"/>
            </a:pPr>
            <a:r>
              <a:t>• 平衡效率与效果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在5个IS基准上进行了广泛实验：</a:t>
            </a:r>
          </a:p>
          <a:p>
            <a:pPr>
              <a:spcBef>
                <a:spcPts val="1200"/>
              </a:spcBef>
              <a:defRPr sz="2000"/>
            </a:pPr>
            <a:r>
              <a:t>•   - BrowserComp (英文/中文)</a:t>
            </a:r>
          </a:p>
          <a:p>
            <a:pPr>
              <a:spcBef>
                <a:spcPts val="1200"/>
              </a:spcBef>
              <a:defRPr sz="2000"/>
            </a:pPr>
            <a:r>
              <a:t>•   - GAIA</a:t>
            </a:r>
          </a:p>
          <a:p>
            <a:pPr>
              <a:spcBef>
                <a:spcPts val="1200"/>
              </a:spcBef>
              <a:defRPr sz="2000"/>
            </a:pPr>
            <a:r>
              <a:t>•   - xbench-DeepSearch</a:t>
            </a:r>
          </a:p>
          <a:p>
            <a:pPr>
              <a:spcBef>
                <a:spcPts val="1200"/>
              </a:spcBef>
              <a:defRPr sz="2000"/>
            </a:pPr>
            <a:r>
              <a:t>•   - WideSearch</a:t>
            </a:r>
          </a:p>
          <a:p>
            <a:pPr>
              <a:spcBef>
                <a:spcPts val="1200"/>
              </a:spcBef>
              <a:defRPr sz="2000"/>
            </a:pPr>
            <a:r>
              <a:t>•   - Seal-0</a:t>
            </a:r>
          </a:p>
          <a:p>
            <a:pPr>
              <a:spcBef>
                <a:spcPts val="1200"/>
              </a:spcBef>
              <a:defRPr sz="2000"/>
            </a:pPr>
            <a:r>
              <a:t>• 在基础和综合设置下，均实现了效率和效果的双重提升</a:t>
            </a:r>
          </a:p>
          <a:p>
            <a:pPr>
              <a:spcBef>
                <a:spcPts val="1200"/>
              </a:spcBef>
              <a:defRPr sz="2000"/>
            </a:pPr>
            <a:r>
              <a:t>• 相比强基线模型表现出持续的改进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主要贡献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✓ 提出WebLeaper框架，系统性解决IS效率问题</a:t>
            </a:r>
          </a:p>
          <a:p>
            <a:pPr>
              <a:spcBef>
                <a:spcPts val="1200"/>
              </a:spcBef>
              <a:defRPr sz="2000"/>
            </a:pPr>
            <a:r>
              <a:t>• ✓ 创新性地将IS建模为树状推理问题</a:t>
            </a:r>
          </a:p>
          <a:p>
            <a:pPr>
              <a:spcBef>
                <a:spcPts val="1200"/>
              </a:spcBef>
              <a:defRPr sz="2000"/>
            </a:pPr>
            <a:r>
              <a:t>• ✓ 设计了三种任务合成变体，提高训练数据质量</a:t>
            </a:r>
          </a:p>
          <a:p>
            <a:pPr>
              <a:spcBef>
                <a:spcPts val="1200"/>
              </a:spcBef>
              <a:defRPr sz="2000"/>
            </a:pPr>
            <a:r>
              <a:t>• ✓ 提出轨迹过滤策略，同时优化准确性和效率</a:t>
            </a:r>
          </a:p>
          <a:p>
            <a:pPr>
              <a:spcBef>
                <a:spcPts val="1200"/>
              </a:spcBef>
              <a:defRPr sz="2000"/>
            </a:pPr>
            <a:r>
              <a:t>• ✓ 在多个benchmark上验证了方法的有效性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91F97"/>
                </a:solidFill>
              </a:defRPr>
            </a:pPr>
            <a:r>
              <a:t>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66CC"/>
                </a:solidFill>
              </a:defRPr>
            </a:pPr>
            <a:r>
              <a:t>创新点</a:t>
            </a:r>
          </a:p>
          <a:p>
            <a:pPr>
              <a:spcBef>
                <a:spcPts val="800"/>
              </a:spcBef>
              <a:defRPr sz="1800"/>
            </a:pPr>
            <a:r>
              <a:t>• 树状推理建模</a:t>
            </a:r>
          </a:p>
          <a:p>
            <a:pPr>
              <a:spcBef>
                <a:spcPts val="800"/>
              </a:spcBef>
              <a:defRPr sz="1800"/>
            </a:pPr>
            <a:r>
              <a:t>• 高覆盖率任务构建</a:t>
            </a:r>
          </a:p>
          <a:p>
            <a:pPr>
              <a:spcBef>
                <a:spcPts val="800"/>
              </a:spcBef>
              <a:defRPr sz="1800"/>
            </a:pPr>
            <a:r>
              <a:t>• 多变体任务合成</a:t>
            </a:r>
          </a:p>
          <a:p>
            <a:pPr>
              <a:spcBef>
                <a:spcPts val="800"/>
              </a:spcBef>
              <a:defRPr sz="1800"/>
            </a:pPr>
            <a:r>
              <a:t>• 双重优化策略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994C"/>
                </a:solidFill>
              </a:defRPr>
            </a:pPr>
            <a:r>
              <a:t>优势</a:t>
            </a:r>
          </a:p>
          <a:p>
            <a:pPr>
              <a:spcBef>
                <a:spcPts val="800"/>
              </a:spcBef>
              <a:defRPr sz="1800"/>
            </a:pPr>
            <a:r>
              <a:t>• 提高搜索效率</a:t>
            </a:r>
          </a:p>
          <a:p>
            <a:pPr>
              <a:spcBef>
                <a:spcPts val="800"/>
              </a:spcBef>
              <a:defRPr sz="1800"/>
            </a:pPr>
            <a:r>
              <a:t>• 增强泛化能力</a:t>
            </a:r>
          </a:p>
          <a:p>
            <a:pPr>
              <a:spcBef>
                <a:spcPts val="800"/>
              </a:spcBef>
              <a:defRPr sz="1800"/>
            </a:pPr>
            <a:r>
              <a:t>• 保证答案准确性</a:t>
            </a:r>
          </a:p>
          <a:p>
            <a:pPr>
              <a:spcBef>
                <a:spcPts val="800"/>
              </a:spcBef>
              <a:defRPr sz="1800"/>
            </a:pPr>
            <a:r>
              <a:t>• 降低计算成本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数据来源：Wikipedia结构化表格</a:t>
            </a:r>
          </a:p>
          <a:p>
            <a:pPr>
              <a:spcBef>
                <a:spcPts val="1200"/>
              </a:spcBef>
              <a:defRPr sz="2000"/>
            </a:pPr>
            <a:r>
              <a:t>• 评估基准：5个不同的IS benchmarks</a:t>
            </a:r>
          </a:p>
          <a:p>
            <a:pPr>
              <a:spcBef>
                <a:spcPts val="1200"/>
              </a:spcBef>
              <a:defRPr sz="2000"/>
            </a:pPr>
            <a:r>
              <a:t>• 评估指标：准确率、搜索效率、成功率</a:t>
            </a:r>
          </a:p>
          <a:p>
            <a:pPr>
              <a:spcBef>
                <a:spcPts val="1200"/>
              </a:spcBef>
              <a:defRPr sz="2000"/>
            </a:pPr>
            <a:r>
              <a:t>• 对比基线：多个SOTA的深度研究模型/系统</a:t>
            </a:r>
          </a:p>
          <a:p>
            <a:pPr>
              <a:spcBef>
                <a:spcPts val="1200"/>
              </a:spcBef>
              <a:defRPr sz="2000"/>
            </a:pPr>
            <a:r>
              <a:t>• 实验环境：Basic设置和Comprehensive设置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91F97"/>
                </a:solidFill>
              </a:defRPr>
            </a:pPr>
            <a:r>
              <a:t>局限性与未来工作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66CC"/>
                </a:solidFill>
              </a:defRPr>
            </a:pPr>
            <a:r>
              <a:t>当前局限</a:t>
            </a:r>
          </a:p>
          <a:p>
            <a:pPr>
              <a:spcBef>
                <a:spcPts val="800"/>
              </a:spcBef>
              <a:defRPr sz="1800"/>
            </a:pPr>
            <a:r>
              <a:t>• 依赖Wikipedia数据源</a:t>
            </a:r>
          </a:p>
          <a:p>
            <a:pPr>
              <a:spcBef>
                <a:spcPts val="800"/>
              </a:spcBef>
              <a:defRPr sz="1800"/>
            </a:pPr>
            <a:r>
              <a:t>• 任务类型相对受限</a:t>
            </a:r>
          </a:p>
          <a:p>
            <a:pPr>
              <a:spcBef>
                <a:spcPts val="800"/>
              </a:spcBef>
              <a:defRPr sz="1800"/>
            </a:pPr>
            <a:r>
              <a:t>• 需要人工设计变体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994C"/>
                </a:solidFill>
              </a:defRPr>
            </a:pPr>
            <a:r>
              <a:t>未来方向</a:t>
            </a:r>
          </a:p>
          <a:p>
            <a:pPr>
              <a:spcBef>
                <a:spcPts val="800"/>
              </a:spcBef>
              <a:defRPr sz="1800"/>
            </a:pPr>
            <a:r>
              <a:t>• 扩展到更多数据源</a:t>
            </a:r>
          </a:p>
          <a:p>
            <a:pPr>
              <a:spcBef>
                <a:spcPts val="800"/>
              </a:spcBef>
              <a:defRPr sz="1800"/>
            </a:pPr>
            <a:r>
              <a:t>• 自动化任务生成</a:t>
            </a:r>
          </a:p>
          <a:p>
            <a:pPr>
              <a:spcBef>
                <a:spcPts val="800"/>
              </a:spcBef>
              <a:defRPr sz="1800"/>
            </a:pPr>
            <a:r>
              <a:t>• 多模态信息搜索</a:t>
            </a:r>
          </a:p>
          <a:p>
            <a:pPr>
              <a:spcBef>
                <a:spcPts val="800"/>
              </a:spcBef>
              <a:defRPr sz="1800"/>
            </a:pPr>
            <a:r>
              <a:t>• 实时搜索优化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91F97"/>
                </a:solidFill>
              </a:defRPr>
            </a:pPr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WebLeaper通过创新的框架设计，成功解决了IS agents效率低的问题</a:t>
            </a:r>
          </a:p>
          <a:p>
            <a:pPr>
              <a:spcBef>
                <a:spcPts val="1200"/>
              </a:spcBef>
              <a:defRPr sz="2000"/>
            </a:pPr>
            <a:r>
              <a:t>• 树状推理建模使得在有限上下文中嵌入更多目标实体成为可能</a:t>
            </a:r>
          </a:p>
          <a:p>
            <a:pPr>
              <a:spcBef>
                <a:spcPts val="1200"/>
              </a:spcBef>
              <a:defRPr sz="2000"/>
            </a:pPr>
            <a:r>
              <a:t>• 三种任务合成变体系统性地提升了训练数据的质量和多样性</a:t>
            </a:r>
          </a:p>
          <a:p>
            <a:pPr>
              <a:spcBef>
                <a:spcPts val="1200"/>
              </a:spcBef>
              <a:defRPr sz="2000"/>
            </a:pPr>
            <a:r>
              <a:t>• 轨迹过滤策略确保了准确性和效率的双重优化</a:t>
            </a:r>
          </a:p>
          <a:p>
            <a:pPr>
              <a:spcBef>
                <a:spcPts val="1200"/>
              </a:spcBef>
              <a:defRPr sz="2000"/>
            </a:pPr>
            <a:r>
              <a:t>• 实验结果证明了方法在多个benchmark上的有效性和泛化能力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91F97"/>
                </a:solidFill>
              </a:defRPr>
            </a:pPr>
            <a:r>
              <a:t>Thanks!</a:t>
            </a:r>
          </a:p>
          <a:p>
            <a:pPr algn="ctr">
              <a:defRPr sz="4800" b="1">
                <a:solidFill>
                  <a:srgbClr val="491F97"/>
                </a:solidFill>
              </a:defRPr>
            </a:pPr>
          </a:p>
          <a:p>
            <a:pPr algn="ctr">
              <a:defRPr sz="4800" b="1">
                <a:solidFill>
                  <a:srgbClr val="491F97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